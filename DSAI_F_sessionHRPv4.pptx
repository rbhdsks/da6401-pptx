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ize22uBrHRSBR24O+0vYE9dInt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21" name="Google Shape;21;p17"/>
          <p:cNvPicPr preferRelativeResize="0"/>
          <p:nvPr/>
        </p:nvPicPr>
        <p:blipFill rotWithShape="1">
          <a:blip r:embed="rId2">
            <a:alphaModFix/>
          </a:blip>
          <a:srcRect b="0" l="0" r="0" t="0"/>
          <a:stretch/>
        </p:blipFill>
        <p:spPr>
          <a:xfrm>
            <a:off x="10947600" y="0"/>
            <a:ext cx="1244400" cy="1277903"/>
          </a:xfrm>
          <a:prstGeom prst="rect">
            <a:avLst/>
          </a:prstGeom>
          <a:noFill/>
          <a:ln>
            <a:noFill/>
          </a:ln>
        </p:spPr>
      </p:pic>
      <p:pic>
        <p:nvPicPr>
          <p:cNvPr id="22" name="Google Shape;22;p17"/>
          <p:cNvPicPr preferRelativeResize="0"/>
          <p:nvPr/>
        </p:nvPicPr>
        <p:blipFill rotWithShape="1">
          <a:blip r:embed="rId3">
            <a:alphaModFix/>
          </a:blip>
          <a:srcRect b="0" l="0" r="0" t="0"/>
          <a:stretch/>
        </p:blipFill>
        <p:spPr>
          <a:xfrm>
            <a:off x="83664" y="81944"/>
            <a:ext cx="1139194" cy="107576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3" name="Shape 23"/>
        <p:cNvGrpSpPr/>
        <p:nvPr/>
      </p:nvGrpSpPr>
      <p:grpSpPr>
        <a:xfrm>
          <a:off x="0" y="0"/>
          <a:ext cx="0" cy="0"/>
          <a:chOff x="0" y="0"/>
          <a:chExt cx="0" cy="0"/>
        </a:xfrm>
      </p:grpSpPr>
      <p:sp>
        <p:nvSpPr>
          <p:cNvPr id="24" name="Google Shape;24;p18"/>
          <p:cNvSpPr txBox="1"/>
          <p:nvPr>
            <p:ph type="title"/>
          </p:nvPr>
        </p:nvSpPr>
        <p:spPr>
          <a:xfrm>
            <a:off x="1159435" y="365125"/>
            <a:ext cx="10016564"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29" name="Google Shape;29;p18"/>
          <p:cNvSpPr/>
          <p:nvPr/>
        </p:nvSpPr>
        <p:spPr>
          <a:xfrm>
            <a:off x="838200" y="1690688"/>
            <a:ext cx="10515600" cy="78347"/>
          </a:xfrm>
          <a:prstGeom prst="rect">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30" name="Google Shape;30;p18"/>
          <p:cNvPicPr preferRelativeResize="0"/>
          <p:nvPr/>
        </p:nvPicPr>
        <p:blipFill rotWithShape="1">
          <a:blip r:embed="rId2">
            <a:alphaModFix/>
          </a:blip>
          <a:srcRect b="0" l="0" r="0" t="0"/>
          <a:stretch/>
        </p:blipFill>
        <p:spPr>
          <a:xfrm>
            <a:off x="10947600" y="0"/>
            <a:ext cx="1244400" cy="1277903"/>
          </a:xfrm>
          <a:prstGeom prst="rect">
            <a:avLst/>
          </a:prstGeom>
          <a:noFill/>
          <a:ln>
            <a:noFill/>
          </a:ln>
        </p:spPr>
      </p:pic>
      <p:pic>
        <p:nvPicPr>
          <p:cNvPr id="31" name="Google Shape;31;p18"/>
          <p:cNvPicPr preferRelativeResize="0"/>
          <p:nvPr/>
        </p:nvPicPr>
        <p:blipFill rotWithShape="1">
          <a:blip r:embed="rId3">
            <a:alphaModFix/>
          </a:blip>
          <a:srcRect b="0" l="0" r="0" t="0"/>
          <a:stretch/>
        </p:blipFill>
        <p:spPr>
          <a:xfrm>
            <a:off x="83664" y="81944"/>
            <a:ext cx="1139194" cy="107576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sp>
        <p:nvSpPr>
          <p:cNvPr id="33" name="Google Shape;3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2" name="Google Shape;4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2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2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2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2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6" name="Google Shape;66;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25"/>
          <p:cNvSpPr/>
          <p:nvPr>
            <p:ph idx="2" type="pic"/>
          </p:nvPr>
        </p:nvSpPr>
        <p:spPr>
          <a:xfrm>
            <a:off x="5183188" y="987425"/>
            <a:ext cx="6172200" cy="4873625"/>
          </a:xfrm>
          <a:prstGeom prst="rect">
            <a:avLst/>
          </a:prstGeom>
          <a:noFill/>
          <a:ln>
            <a:noFill/>
          </a:ln>
        </p:spPr>
      </p:sp>
      <p:sp>
        <p:nvSpPr>
          <p:cNvPr id="73" name="Google Shape;73;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22.png"/><Relationship Id="rId5"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image" Target="../media/image11.png"/><Relationship Id="rId7" Type="http://schemas.openxmlformats.org/officeDocument/2006/relationships/image" Target="../media/image27.png"/><Relationship Id="rId8"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17.png"/><Relationship Id="rId5"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IN"/>
              <a:t>Data Science and AI for Finance</a:t>
            </a:r>
            <a:br>
              <a:rPr lang="en-IN"/>
            </a:br>
            <a:r>
              <a:rPr lang="en-IN"/>
              <a:t>DA6701</a:t>
            </a:r>
            <a:endParaRPr/>
          </a:p>
        </p:txBody>
      </p:sp>
      <p:sp>
        <p:nvSpPr>
          <p:cNvPr id="94" name="Google Shape;94;p1"/>
          <p:cNvSpPr txBox="1"/>
          <p:nvPr>
            <p:ph idx="1" type="subTitle"/>
          </p:nvPr>
        </p:nvSpPr>
        <p:spPr>
          <a:xfrm>
            <a:off x="1524000" y="4239711"/>
            <a:ext cx="9144000" cy="1655762"/>
          </a:xfrm>
          <a:prstGeom prst="rect">
            <a:avLst/>
          </a:prstGeom>
          <a:noFill/>
          <a:ln>
            <a:noFill/>
          </a:ln>
        </p:spPr>
        <p:txBody>
          <a:bodyPr anchorCtr="0" anchor="t" bIns="45700" lIns="91425" spcFirstLastPara="1" rIns="91425" wrap="square" tIns="45700">
            <a:normAutofit fontScale="77500" lnSpcReduction="20000"/>
          </a:bodyPr>
          <a:lstStyle/>
          <a:p>
            <a:pPr indent="0" lvl="0" marL="0" rtl="0" algn="ctr">
              <a:lnSpc>
                <a:spcPct val="90000"/>
              </a:lnSpc>
              <a:spcBef>
                <a:spcPts val="0"/>
              </a:spcBef>
              <a:spcAft>
                <a:spcPts val="0"/>
              </a:spcAft>
              <a:buClr>
                <a:schemeClr val="dk1"/>
              </a:buClr>
              <a:buSzPct val="100000"/>
              <a:buNone/>
            </a:pPr>
            <a:r>
              <a:rPr lang="en-IN"/>
              <a:t>Module – Integrating MPT, CAL, CAPM, and HRP</a:t>
            </a:r>
            <a:endParaRPr/>
          </a:p>
          <a:p>
            <a:pPr indent="0" lvl="0" marL="0" rtl="0" algn="ctr">
              <a:lnSpc>
                <a:spcPct val="90000"/>
              </a:lnSpc>
              <a:spcBef>
                <a:spcPts val="1000"/>
              </a:spcBef>
              <a:spcAft>
                <a:spcPts val="0"/>
              </a:spcAft>
              <a:buClr>
                <a:schemeClr val="dk1"/>
              </a:buClr>
              <a:buSzPct val="100000"/>
              <a:buNone/>
            </a:pPr>
            <a:r>
              <a:rPr lang="en-IN"/>
              <a:t>Nandan Sudarsanam,</a:t>
            </a:r>
            <a:endParaRPr/>
          </a:p>
          <a:p>
            <a:pPr indent="0" lvl="0" marL="0" rtl="0" algn="ctr">
              <a:lnSpc>
                <a:spcPct val="90000"/>
              </a:lnSpc>
              <a:spcBef>
                <a:spcPts val="1000"/>
              </a:spcBef>
              <a:spcAft>
                <a:spcPts val="0"/>
              </a:spcAft>
              <a:buClr>
                <a:schemeClr val="dk1"/>
              </a:buClr>
              <a:buSzPct val="100000"/>
              <a:buNone/>
            </a:pPr>
            <a:r>
              <a:rPr lang="en-IN"/>
              <a:t>Department of Data Science and AI,</a:t>
            </a:r>
            <a:endParaRPr/>
          </a:p>
          <a:p>
            <a:pPr indent="0" lvl="0" marL="0" rtl="0" algn="ctr">
              <a:lnSpc>
                <a:spcPct val="90000"/>
              </a:lnSpc>
              <a:spcBef>
                <a:spcPts val="1000"/>
              </a:spcBef>
              <a:spcAft>
                <a:spcPts val="0"/>
              </a:spcAft>
              <a:buClr>
                <a:schemeClr val="dk1"/>
              </a:buClr>
              <a:buSzPct val="100000"/>
              <a:buNone/>
            </a:pPr>
            <a:r>
              <a:rPr lang="en-IN"/>
              <a:t>Wadhwani School of Data Science and AI,</a:t>
            </a:r>
            <a:endParaRPr/>
          </a:p>
          <a:p>
            <a:pPr indent="0" lvl="0" marL="0" rtl="0" algn="ctr">
              <a:lnSpc>
                <a:spcPct val="90000"/>
              </a:lnSpc>
              <a:spcBef>
                <a:spcPts val="1000"/>
              </a:spcBef>
              <a:spcAft>
                <a:spcPts val="0"/>
              </a:spcAft>
              <a:buClr>
                <a:schemeClr val="dk1"/>
              </a:buClr>
              <a:buSzPct val="100000"/>
              <a:buNone/>
            </a:pPr>
            <a:r>
              <a:rPr lang="en-IN"/>
              <a:t>Indian Institute of Technology Madras</a:t>
            </a:r>
            <a:endParaRPr/>
          </a:p>
          <a:p>
            <a:pPr indent="0" lvl="0" marL="0" rtl="0" algn="ctr">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title"/>
          </p:nvPr>
        </p:nvSpPr>
        <p:spPr>
          <a:xfrm>
            <a:off x="1159435" y="365125"/>
            <a:ext cx="1001656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Integrating MPT, CAL, CAPM</a:t>
            </a:r>
            <a:endParaRPr/>
          </a:p>
        </p:txBody>
      </p:sp>
      <p:sp>
        <p:nvSpPr>
          <p:cNvPr id="100" name="Google Shape;100;p2"/>
          <p:cNvSpPr txBox="1"/>
          <p:nvPr>
            <p:ph idx="1" type="body"/>
          </p:nvPr>
        </p:nvSpPr>
        <p:spPr>
          <a:xfrm>
            <a:off x="838200" y="1825624"/>
            <a:ext cx="4883331" cy="450550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Markowitz’s MPT teaches us that of the many ways we can combine risky assets to create portfolios, there should be an efficient frontier on the risk-reward graph.</a:t>
            </a:r>
            <a:endParaRPr/>
          </a:p>
        </p:txBody>
      </p:sp>
      <p:pic>
        <p:nvPicPr>
          <p:cNvPr id="101" name="Google Shape;101;p2"/>
          <p:cNvPicPr preferRelativeResize="0"/>
          <p:nvPr/>
        </p:nvPicPr>
        <p:blipFill rotWithShape="1">
          <a:blip r:embed="rId3">
            <a:alphaModFix/>
          </a:blip>
          <a:srcRect b="0" l="0" r="0" t="0"/>
          <a:stretch/>
        </p:blipFill>
        <p:spPr>
          <a:xfrm>
            <a:off x="6357184" y="1963419"/>
            <a:ext cx="5552440" cy="3930742"/>
          </a:xfrm>
          <a:prstGeom prst="rect">
            <a:avLst/>
          </a:prstGeom>
          <a:noFill/>
          <a:ln>
            <a:noFill/>
          </a:ln>
        </p:spPr>
      </p:pic>
      <p:sp>
        <p:nvSpPr>
          <p:cNvPr id="102" name="Google Shape;102;p2"/>
          <p:cNvSpPr/>
          <p:nvPr/>
        </p:nvSpPr>
        <p:spPr>
          <a:xfrm flipH="1">
            <a:off x="7940038" y="2822498"/>
            <a:ext cx="3413762" cy="2212583"/>
          </a:xfrm>
          <a:prstGeom prst="arc">
            <a:avLst>
              <a:gd fmla="val 16200000" name="adj1"/>
              <a:gd fmla="val 0" name="adj2"/>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1159435" y="365125"/>
            <a:ext cx="1001656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Integrating MPT, CAL, CAPM</a:t>
            </a:r>
            <a:endParaRPr/>
          </a:p>
        </p:txBody>
      </p:sp>
      <p:sp>
        <p:nvSpPr>
          <p:cNvPr id="108" name="Google Shape;108;p3"/>
          <p:cNvSpPr txBox="1"/>
          <p:nvPr>
            <p:ph idx="1" type="body"/>
          </p:nvPr>
        </p:nvSpPr>
        <p:spPr>
          <a:xfrm>
            <a:off x="838200" y="1825625"/>
            <a:ext cx="6633754" cy="4667250"/>
          </a:xfrm>
          <a:prstGeom prst="rect">
            <a:avLst/>
          </a:prstGeom>
          <a:blipFill rotWithShape="1">
            <a:blip r:embed="rId3">
              <a:alphaModFix/>
            </a:blip>
            <a:stretch>
              <a:fillRect b="0" l="-1286" r="-1561" t="-2478"/>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IN"/>
              <a:t> </a:t>
            </a:r>
            <a:endParaRPr/>
          </a:p>
        </p:txBody>
      </p:sp>
      <p:pic>
        <p:nvPicPr>
          <p:cNvPr id="109" name="Google Shape;109;p3"/>
          <p:cNvPicPr preferRelativeResize="0"/>
          <p:nvPr/>
        </p:nvPicPr>
        <p:blipFill rotWithShape="1">
          <a:blip r:embed="rId4">
            <a:alphaModFix/>
          </a:blip>
          <a:srcRect b="0" l="0" r="0" t="0"/>
          <a:stretch/>
        </p:blipFill>
        <p:spPr>
          <a:xfrm>
            <a:off x="7777030" y="2066979"/>
            <a:ext cx="4158094" cy="3375878"/>
          </a:xfrm>
          <a:prstGeom prst="rect">
            <a:avLst/>
          </a:prstGeom>
          <a:noFill/>
          <a:ln>
            <a:noFill/>
          </a:ln>
        </p:spPr>
      </p:pic>
      <p:sp>
        <p:nvSpPr>
          <p:cNvPr id="110" name="Google Shape;110;p3"/>
          <p:cNvSpPr txBox="1"/>
          <p:nvPr/>
        </p:nvSpPr>
        <p:spPr>
          <a:xfrm>
            <a:off x="8569233" y="3059668"/>
            <a:ext cx="8621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chemeClr val="dk1"/>
                </a:solidFill>
                <a:latin typeface="Calibri"/>
                <a:ea typeface="Calibri"/>
                <a:cs typeface="Calibri"/>
                <a:sym typeface="Calibri"/>
              </a:rPr>
              <a:t>CML</a:t>
            </a:r>
            <a:endParaRPr/>
          </a:p>
        </p:txBody>
      </p:sp>
      <p:sp>
        <p:nvSpPr>
          <p:cNvPr id="111" name="Google Shape;111;p3"/>
          <p:cNvSpPr txBox="1"/>
          <p:nvPr/>
        </p:nvSpPr>
        <p:spPr>
          <a:xfrm>
            <a:off x="8064136" y="4273643"/>
            <a:ext cx="426720" cy="391582"/>
          </a:xfrm>
          <a:prstGeom prst="rect">
            <a:avLst/>
          </a:prstGeom>
          <a:blipFill rotWithShape="1">
            <a:blip r:embed="rId5">
              <a:alphaModFix/>
            </a:blip>
            <a:stretch>
              <a:fillRect b="-937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latin typeface="Calibri"/>
                <a:ea typeface="Calibri"/>
                <a:cs typeface="Calibri"/>
                <a:sym typeface="Calibri"/>
              </a:rPr>
              <a:t> </a:t>
            </a:r>
            <a:endParaRPr/>
          </a:p>
        </p:txBody>
      </p:sp>
      <p:sp>
        <p:nvSpPr>
          <p:cNvPr id="112" name="Google Shape;112;p3"/>
          <p:cNvSpPr txBox="1"/>
          <p:nvPr/>
        </p:nvSpPr>
        <p:spPr>
          <a:xfrm>
            <a:off x="7471954" y="5242560"/>
            <a:ext cx="491163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200">
                <a:solidFill>
                  <a:srgbClr val="222222"/>
                </a:solidFill>
                <a:latin typeface="Arial"/>
                <a:ea typeface="Arial"/>
                <a:cs typeface="Arial"/>
                <a:sym typeface="Arial"/>
              </a:rPr>
              <a:t>Bodie, Zvi, Alex Kane, and Alan Marcus. </a:t>
            </a:r>
            <a:r>
              <a:rPr b="0" i="1" lang="en-IN" sz="1200">
                <a:solidFill>
                  <a:srgbClr val="222222"/>
                </a:solidFill>
                <a:latin typeface="Arial"/>
                <a:ea typeface="Arial"/>
                <a:cs typeface="Arial"/>
                <a:sym typeface="Arial"/>
              </a:rPr>
              <a:t>Ebook: Essentials of investments: Global edition</a:t>
            </a:r>
            <a:r>
              <a:rPr b="0" i="0" lang="en-IN" sz="1200">
                <a:solidFill>
                  <a:srgbClr val="222222"/>
                </a:solidFill>
                <a:latin typeface="Arial"/>
                <a:ea typeface="Arial"/>
                <a:cs typeface="Arial"/>
                <a:sym typeface="Arial"/>
              </a:rPr>
              <a:t>. McGraw Hill, 2013.</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ph type="title"/>
          </p:nvPr>
        </p:nvSpPr>
        <p:spPr>
          <a:xfrm>
            <a:off x="1159435" y="365125"/>
            <a:ext cx="9845733"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Nuts and bolts of portfolio selection</a:t>
            </a:r>
            <a:endParaRPr/>
          </a:p>
        </p:txBody>
      </p:sp>
      <p:sp>
        <p:nvSpPr>
          <p:cNvPr id="118" name="Google Shape;118;p4"/>
          <p:cNvSpPr txBox="1"/>
          <p:nvPr>
            <p:ph idx="1" type="body"/>
          </p:nvPr>
        </p:nvSpPr>
        <p:spPr>
          <a:xfrm>
            <a:off x="838200" y="1825625"/>
            <a:ext cx="10515600" cy="4351338"/>
          </a:xfrm>
          <a:prstGeom prst="rect">
            <a:avLst/>
          </a:prstGeom>
          <a:blipFill rotWithShape="1">
            <a:blip r:embed="rId3">
              <a:alphaModFix/>
            </a:blip>
            <a:stretch>
              <a:fillRect b="0" l="-1042" r="0" t="-224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IN"/>
              <a:t> </a:t>
            </a:r>
            <a:endParaRPr/>
          </a:p>
        </p:txBody>
      </p:sp>
      <p:pic>
        <p:nvPicPr>
          <p:cNvPr descr="image.png" id="119" name="Google Shape;119;p4"/>
          <p:cNvPicPr preferRelativeResize="0"/>
          <p:nvPr/>
        </p:nvPicPr>
        <p:blipFill rotWithShape="1">
          <a:blip r:embed="rId4">
            <a:alphaModFix/>
          </a:blip>
          <a:srcRect b="0" l="0" r="0" t="0"/>
          <a:stretch/>
        </p:blipFill>
        <p:spPr>
          <a:xfrm>
            <a:off x="3927566" y="3925128"/>
            <a:ext cx="5268686" cy="551078"/>
          </a:xfrm>
          <a:prstGeom prst="rect">
            <a:avLst/>
          </a:prstGeom>
          <a:noFill/>
          <a:ln>
            <a:noFill/>
          </a:ln>
        </p:spPr>
      </p:pic>
      <p:pic>
        <p:nvPicPr>
          <p:cNvPr descr="image.png" id="120" name="Google Shape;120;p4"/>
          <p:cNvPicPr preferRelativeResize="0"/>
          <p:nvPr/>
        </p:nvPicPr>
        <p:blipFill rotWithShape="1">
          <a:blip r:embed="rId5">
            <a:alphaModFix/>
          </a:blip>
          <a:srcRect b="0" l="0" r="0" t="0"/>
          <a:stretch/>
        </p:blipFill>
        <p:spPr>
          <a:xfrm>
            <a:off x="3610114" y="4896825"/>
            <a:ext cx="5903589" cy="5373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5"/>
          <p:cNvSpPr txBox="1"/>
          <p:nvPr>
            <p:ph type="title"/>
          </p:nvPr>
        </p:nvSpPr>
        <p:spPr>
          <a:xfrm>
            <a:off x="1159435" y="365125"/>
            <a:ext cx="1001656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Nuts and bolts of portfolio selection</a:t>
            </a:r>
            <a:endParaRPr/>
          </a:p>
        </p:txBody>
      </p:sp>
      <p:sp>
        <p:nvSpPr>
          <p:cNvPr id="127" name="Google Shape;127;p5"/>
          <p:cNvSpPr txBox="1"/>
          <p:nvPr>
            <p:ph idx="1" type="body"/>
          </p:nvPr>
        </p:nvSpPr>
        <p:spPr>
          <a:xfrm>
            <a:off x="838200" y="1825625"/>
            <a:ext cx="6119949" cy="4351338"/>
          </a:xfrm>
          <a:prstGeom prst="rect">
            <a:avLst/>
          </a:prstGeom>
          <a:blipFill rotWithShape="1">
            <a:blip r:embed="rId3">
              <a:alphaModFix/>
            </a:blip>
            <a:stretch>
              <a:fillRect b="0" l="-298" r="0" t="-154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IN"/>
              <a:t> </a:t>
            </a:r>
            <a:endParaRPr/>
          </a:p>
        </p:txBody>
      </p:sp>
      <p:pic>
        <p:nvPicPr>
          <p:cNvPr descr="image.png" id="128" name="Google Shape;128;p5"/>
          <p:cNvPicPr preferRelativeResize="0"/>
          <p:nvPr/>
        </p:nvPicPr>
        <p:blipFill rotWithShape="1">
          <a:blip r:embed="rId4">
            <a:alphaModFix/>
          </a:blip>
          <a:srcRect b="0" l="0" r="0" t="0"/>
          <a:stretch/>
        </p:blipFill>
        <p:spPr>
          <a:xfrm>
            <a:off x="2313912" y="2181287"/>
            <a:ext cx="2258090" cy="426113"/>
          </a:xfrm>
          <a:prstGeom prst="rect">
            <a:avLst/>
          </a:prstGeom>
          <a:noFill/>
          <a:ln>
            <a:noFill/>
          </a:ln>
        </p:spPr>
      </p:pic>
      <p:pic>
        <p:nvPicPr>
          <p:cNvPr descr="image.png" id="129" name="Google Shape;129;p5"/>
          <p:cNvPicPr preferRelativeResize="0"/>
          <p:nvPr/>
        </p:nvPicPr>
        <p:blipFill rotWithShape="1">
          <a:blip r:embed="rId5">
            <a:alphaModFix/>
          </a:blip>
          <a:srcRect b="0" l="0" r="0" t="0"/>
          <a:stretch/>
        </p:blipFill>
        <p:spPr>
          <a:xfrm>
            <a:off x="2145879" y="3003941"/>
            <a:ext cx="2765755" cy="592662"/>
          </a:xfrm>
          <a:prstGeom prst="rect">
            <a:avLst/>
          </a:prstGeom>
          <a:noFill/>
          <a:ln>
            <a:noFill/>
          </a:ln>
        </p:spPr>
      </p:pic>
      <p:cxnSp>
        <p:nvCxnSpPr>
          <p:cNvPr id="130" name="Google Shape;130;p5"/>
          <p:cNvCxnSpPr/>
          <p:nvPr/>
        </p:nvCxnSpPr>
        <p:spPr>
          <a:xfrm>
            <a:off x="6958149" y="1907177"/>
            <a:ext cx="0" cy="4478791"/>
          </a:xfrm>
          <a:prstGeom prst="straightConnector1">
            <a:avLst/>
          </a:prstGeom>
          <a:noFill/>
          <a:ln cap="flat" cmpd="sng" w="9525">
            <a:solidFill>
              <a:schemeClr val="accent1"/>
            </a:solidFill>
            <a:prstDash val="solid"/>
            <a:miter lim="800000"/>
            <a:headEnd len="sm" w="sm" type="none"/>
            <a:tailEnd len="sm" w="sm" type="none"/>
          </a:ln>
        </p:spPr>
      </p:cxnSp>
      <p:sp>
        <p:nvSpPr>
          <p:cNvPr id="131" name="Google Shape;131;p5"/>
          <p:cNvSpPr txBox="1"/>
          <p:nvPr/>
        </p:nvSpPr>
        <p:spPr>
          <a:xfrm>
            <a:off x="7297783" y="2002971"/>
            <a:ext cx="3878216" cy="394019"/>
          </a:xfrm>
          <a:prstGeom prst="rect">
            <a:avLst/>
          </a:prstGeom>
          <a:blipFill rotWithShape="1">
            <a:blip r:embed="rId6">
              <a:alphaModFix/>
            </a:blip>
            <a:stretch>
              <a:fillRect b="-20309" l="-1257" r="0" t="-781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latin typeface="Calibri"/>
                <a:ea typeface="Calibri"/>
                <a:cs typeface="Calibri"/>
                <a:sym typeface="Calibri"/>
              </a:rPr>
              <a:t> </a:t>
            </a:r>
            <a:endParaRPr/>
          </a:p>
        </p:txBody>
      </p:sp>
      <p:pic>
        <p:nvPicPr>
          <p:cNvPr id="132" name="Google Shape;132;p5"/>
          <p:cNvPicPr preferRelativeResize="0"/>
          <p:nvPr/>
        </p:nvPicPr>
        <p:blipFill rotWithShape="1">
          <a:blip r:embed="rId7">
            <a:alphaModFix/>
          </a:blip>
          <a:srcRect b="0" l="0" r="0" t="0"/>
          <a:stretch/>
        </p:blipFill>
        <p:spPr>
          <a:xfrm>
            <a:off x="7297783" y="2431132"/>
            <a:ext cx="4511591" cy="4059757"/>
          </a:xfrm>
          <a:prstGeom prst="rect">
            <a:avLst/>
          </a:prstGeom>
          <a:noFill/>
          <a:ln>
            <a:noFill/>
          </a:ln>
        </p:spPr>
      </p:pic>
      <p:pic>
        <p:nvPicPr>
          <p:cNvPr descr="image.png" id="133" name="Google Shape;133;p5"/>
          <p:cNvPicPr preferRelativeResize="0"/>
          <p:nvPr/>
        </p:nvPicPr>
        <p:blipFill rotWithShape="1">
          <a:blip r:embed="rId8">
            <a:alphaModFix/>
          </a:blip>
          <a:srcRect b="0" l="0" r="0" t="0"/>
          <a:stretch/>
        </p:blipFill>
        <p:spPr>
          <a:xfrm>
            <a:off x="2651157" y="5886205"/>
            <a:ext cx="2513025" cy="4997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ph type="title"/>
          </p:nvPr>
        </p:nvSpPr>
        <p:spPr>
          <a:xfrm>
            <a:off x="1159435" y="365125"/>
            <a:ext cx="1001656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Where does Markowitz fail?</a:t>
            </a:r>
            <a:endParaRPr/>
          </a:p>
        </p:txBody>
      </p:sp>
      <p:sp>
        <p:nvSpPr>
          <p:cNvPr id="139" name="Google Shape;139;p6"/>
          <p:cNvSpPr txBox="1"/>
          <p:nvPr/>
        </p:nvSpPr>
        <p:spPr>
          <a:xfrm>
            <a:off x="248791" y="1784519"/>
            <a:ext cx="10833463" cy="923330"/>
          </a:xfrm>
          <a:prstGeom prst="rect">
            <a:avLst/>
          </a:prstGeom>
          <a:blipFill rotWithShape="1">
            <a:blip r:embed="rId3">
              <a:alphaModFix/>
            </a:blip>
            <a:stretch>
              <a:fillRect b="0" l="0" r="-447" t="-39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latin typeface="Calibri"/>
                <a:ea typeface="Calibri"/>
                <a:cs typeface="Calibri"/>
                <a:sym typeface="Calibri"/>
              </a:rPr>
              <a:t> </a:t>
            </a:r>
            <a:endParaRPr/>
          </a:p>
        </p:txBody>
      </p:sp>
      <p:sp>
        <p:nvSpPr>
          <p:cNvPr id="140" name="Google Shape;140;p6"/>
          <p:cNvSpPr/>
          <p:nvPr/>
        </p:nvSpPr>
        <p:spPr>
          <a:xfrm>
            <a:off x="715298" y="2246184"/>
            <a:ext cx="10337076" cy="3370153"/>
          </a:xfrm>
          <a:prstGeom prst="rect">
            <a:avLst/>
          </a:prstGeom>
          <a:blipFill rotWithShape="1">
            <a:blip r:embed="rId4">
              <a:alphaModFix/>
            </a:blip>
            <a:stretch>
              <a:fillRect b="0" l="-471" r="-882" t="-180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latin typeface="Calibri"/>
                <a:ea typeface="Calibri"/>
                <a:cs typeface="Calibri"/>
                <a:sym typeface="Calibri"/>
              </a:rPr>
              <a:t> </a:t>
            </a:r>
            <a:endParaRPr/>
          </a:p>
        </p:txBody>
      </p:sp>
      <p:sp>
        <p:nvSpPr>
          <p:cNvPr id="141" name="Google Shape;141;p6"/>
          <p:cNvSpPr txBox="1"/>
          <p:nvPr/>
        </p:nvSpPr>
        <p:spPr>
          <a:xfrm>
            <a:off x="715298" y="5434623"/>
            <a:ext cx="9900451" cy="646331"/>
          </a:xfrm>
          <a:prstGeom prst="rect">
            <a:avLst/>
          </a:prstGeom>
          <a:noFill/>
          <a:ln>
            <a:noFill/>
          </a:ln>
        </p:spPr>
        <p:txBody>
          <a:bodyPr anchorCtr="0" anchor="t" bIns="45700" lIns="91425" spcFirstLastPara="1" rIns="91425" wrap="square" tIns="45700">
            <a:spAutoFit/>
          </a:bodyPr>
          <a:lstStyle/>
          <a:p>
            <a:pPr indent="-114300" lvl="0" marL="0" marR="0" rtl="0" algn="l">
              <a:spcBef>
                <a:spcPts val="0"/>
              </a:spcBef>
              <a:spcAft>
                <a:spcPts val="0"/>
              </a:spcAft>
              <a:buClr>
                <a:schemeClr val="dk1"/>
              </a:buClr>
              <a:buSzPts val="1800"/>
              <a:buFont typeface="Arial"/>
              <a:buChar char="•"/>
            </a:pPr>
            <a:r>
              <a:rPr b="1" lang="en-IN" sz="1800">
                <a:solidFill>
                  <a:schemeClr val="dk1"/>
                </a:solidFill>
                <a:latin typeface="Arial"/>
                <a:ea typeface="Arial"/>
                <a:cs typeface="Arial"/>
                <a:sym typeface="Arial"/>
              </a:rPr>
              <a:t>The Quote:</a:t>
            </a:r>
            <a:r>
              <a:rPr lang="en-IN" sz="1800">
                <a:solidFill>
                  <a:schemeClr val="dk1"/>
                </a:solidFill>
                <a:latin typeface="Arial"/>
                <a:ea typeface="Arial"/>
                <a:cs typeface="Arial"/>
                <a:sym typeface="Arial"/>
              </a:rPr>
              <a:t> "Mean-variance optimization is an error-maximization machine." (Richard Michaud).</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txBox="1"/>
          <p:nvPr>
            <p:ph type="title"/>
          </p:nvPr>
        </p:nvSpPr>
        <p:spPr>
          <a:xfrm>
            <a:off x="1159435" y="365125"/>
            <a:ext cx="1001656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What are some alternate approaches to ex-post optimal portfolio  using ML</a:t>
            </a:r>
            <a:endParaRPr/>
          </a:p>
        </p:txBody>
      </p:sp>
      <p:sp>
        <p:nvSpPr>
          <p:cNvPr id="147" name="Google Shape;14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There are two broad approaches to solving this problem: Ex-post and Ex-Ante</a:t>
            </a:r>
            <a:endParaRPr/>
          </a:p>
          <a:p>
            <a:pPr indent="-228600" lvl="1" marL="685800" rtl="0" algn="l">
              <a:lnSpc>
                <a:spcPct val="90000"/>
              </a:lnSpc>
              <a:spcBef>
                <a:spcPts val="500"/>
              </a:spcBef>
              <a:spcAft>
                <a:spcPts val="0"/>
              </a:spcAft>
              <a:buClr>
                <a:schemeClr val="dk1"/>
              </a:buClr>
              <a:buSzPts val="2400"/>
              <a:buChar char="•"/>
            </a:pPr>
            <a:r>
              <a:rPr lang="en-IN"/>
              <a:t>Ex-post approaches Regularization (Ledoit Wolf), Hierarchical Risk Parity (HRP)</a:t>
            </a:r>
            <a:endParaRPr/>
          </a:p>
          <a:p>
            <a:pPr indent="-228600" lvl="1" marL="685800" rtl="0" algn="l">
              <a:lnSpc>
                <a:spcPct val="90000"/>
              </a:lnSpc>
              <a:spcBef>
                <a:spcPts val="500"/>
              </a:spcBef>
              <a:spcAft>
                <a:spcPts val="0"/>
              </a:spcAft>
              <a:buClr>
                <a:schemeClr val="dk1"/>
              </a:buClr>
              <a:buSzPts val="2400"/>
              <a:buChar char="•"/>
            </a:pPr>
            <a:r>
              <a:rPr lang="en-IN"/>
              <a:t>Ex-Ante approaches: forecast returns and provide expected returns to the optimizer (RFs, XGBoost, LSTMs, Transformers), Reinforcement Learning for end-to-end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ph type="title"/>
          </p:nvPr>
        </p:nvSpPr>
        <p:spPr>
          <a:xfrm>
            <a:off x="1159435" y="365125"/>
            <a:ext cx="1001656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Regularization</a:t>
            </a:r>
            <a:endParaRPr/>
          </a:p>
        </p:txBody>
      </p:sp>
      <p:sp>
        <p:nvSpPr>
          <p:cNvPr id="153" name="Google Shape;153;p8"/>
          <p:cNvSpPr txBox="1"/>
          <p:nvPr>
            <p:ph idx="1" type="body"/>
          </p:nvPr>
        </p:nvSpPr>
        <p:spPr>
          <a:xfrm>
            <a:off x="838200" y="1825625"/>
            <a:ext cx="10515600" cy="4351338"/>
          </a:xfrm>
          <a:prstGeom prst="rect">
            <a:avLst/>
          </a:prstGeom>
          <a:blipFill rotWithShape="1">
            <a:blip r:embed="rId3">
              <a:alphaModFix/>
            </a:blip>
            <a:stretch>
              <a:fillRect b="0" l="-637" r="-289" t="-210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IN"/>
              <a:t> </a:t>
            </a:r>
            <a:endParaRPr/>
          </a:p>
        </p:txBody>
      </p:sp>
      <p:pic>
        <p:nvPicPr>
          <p:cNvPr id="154" name="Google Shape;154;p8"/>
          <p:cNvPicPr preferRelativeResize="0"/>
          <p:nvPr/>
        </p:nvPicPr>
        <p:blipFill rotWithShape="1">
          <a:blip r:embed="rId4">
            <a:alphaModFix/>
          </a:blip>
          <a:srcRect b="0" l="0" r="0" t="0"/>
          <a:stretch/>
        </p:blipFill>
        <p:spPr>
          <a:xfrm>
            <a:off x="1883233" y="4102124"/>
            <a:ext cx="1876687" cy="285790"/>
          </a:xfrm>
          <a:prstGeom prst="rect">
            <a:avLst/>
          </a:prstGeom>
          <a:noFill/>
          <a:ln>
            <a:noFill/>
          </a:ln>
        </p:spPr>
      </p:pic>
      <p:pic>
        <p:nvPicPr>
          <p:cNvPr id="155" name="Google Shape;155;p8"/>
          <p:cNvPicPr preferRelativeResize="0"/>
          <p:nvPr/>
        </p:nvPicPr>
        <p:blipFill rotWithShape="1">
          <a:blip r:embed="rId5">
            <a:alphaModFix/>
          </a:blip>
          <a:srcRect b="0" l="0" r="0" t="0"/>
          <a:stretch/>
        </p:blipFill>
        <p:spPr>
          <a:xfrm>
            <a:off x="6817393" y="5434332"/>
            <a:ext cx="2324424" cy="695422"/>
          </a:xfrm>
          <a:prstGeom prst="rect">
            <a:avLst/>
          </a:prstGeom>
          <a:noFill/>
          <a:ln>
            <a:noFill/>
          </a:ln>
        </p:spPr>
      </p:pic>
      <p:pic>
        <p:nvPicPr>
          <p:cNvPr id="156" name="Google Shape;156;p8"/>
          <p:cNvPicPr preferRelativeResize="0"/>
          <p:nvPr/>
        </p:nvPicPr>
        <p:blipFill rotWithShape="1">
          <a:blip r:embed="rId6">
            <a:alphaModFix/>
          </a:blip>
          <a:srcRect b="0" l="0" r="0" t="0"/>
          <a:stretch/>
        </p:blipFill>
        <p:spPr>
          <a:xfrm>
            <a:off x="8352698" y="2602603"/>
            <a:ext cx="2610214" cy="48584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9"/>
          <p:cNvSpPr txBox="1"/>
          <p:nvPr>
            <p:ph type="title"/>
          </p:nvPr>
        </p:nvSpPr>
        <p:spPr>
          <a:xfrm>
            <a:off x="1159435" y="365125"/>
            <a:ext cx="1001656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Hierarchical Risk Parity</a:t>
            </a:r>
            <a:endParaRPr/>
          </a:p>
        </p:txBody>
      </p:sp>
      <p:sp>
        <p:nvSpPr>
          <p:cNvPr id="162" name="Google Shape;162;p9"/>
          <p:cNvSpPr txBox="1"/>
          <p:nvPr>
            <p:ph idx="1" type="body"/>
          </p:nvPr>
        </p:nvSpPr>
        <p:spPr>
          <a:xfrm>
            <a:off x="838200" y="1825624"/>
            <a:ext cx="10515600" cy="4476023"/>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IN"/>
              <a:t>Hierarchical Risk Parity (HRP) does away with the need to invert a covariance matrix entirely. Instead, it uses machine learning techniques (hierarchical clustering) to build a robust portfolio that is far less sensitive to noise in the data, aiming for genuine diversification across different sources of risk.</a:t>
            </a:r>
            <a:endParaRPr/>
          </a:p>
          <a:p>
            <a:pPr indent="-228600" lvl="0" marL="228600" rtl="0" algn="l">
              <a:lnSpc>
                <a:spcPct val="90000"/>
              </a:lnSpc>
              <a:spcBef>
                <a:spcPts val="1000"/>
              </a:spcBef>
              <a:spcAft>
                <a:spcPts val="0"/>
              </a:spcAft>
              <a:buClr>
                <a:schemeClr val="dk1"/>
              </a:buClr>
              <a:buSzPct val="100000"/>
              <a:buChar char="•"/>
            </a:pPr>
            <a:r>
              <a:rPr lang="en-IN"/>
              <a:t>Risk Management algorithm not return maximizer. Comparable to minimum variance portfolio (MVP)</a:t>
            </a:r>
            <a:endParaRPr/>
          </a:p>
          <a:p>
            <a:pPr indent="-228600" lvl="0" marL="228600" rtl="0" algn="l">
              <a:lnSpc>
                <a:spcPct val="90000"/>
              </a:lnSpc>
              <a:spcBef>
                <a:spcPts val="1000"/>
              </a:spcBef>
              <a:spcAft>
                <a:spcPts val="0"/>
              </a:spcAft>
              <a:buClr>
                <a:schemeClr val="dk1"/>
              </a:buClr>
              <a:buSzPct val="100000"/>
              <a:buChar char="•"/>
            </a:pPr>
            <a:r>
              <a:rPr lang="en-IN"/>
              <a:t>However, MVP tries to find a global perfect portfolio through optimization which requires us to invert the covariance matrix which (thanks to information deficit and multicollinearity) results in haywire opposing weights that are merely the result of noise and don’t have any generalization.</a:t>
            </a:r>
            <a:endParaRPr/>
          </a:p>
          <a:p>
            <a:pPr indent="-228600" lvl="0" marL="228600" rtl="0" algn="l">
              <a:lnSpc>
                <a:spcPct val="90000"/>
              </a:lnSpc>
              <a:spcBef>
                <a:spcPts val="1000"/>
              </a:spcBef>
              <a:spcAft>
                <a:spcPts val="0"/>
              </a:spcAft>
              <a:buClr>
                <a:schemeClr val="dk1"/>
              </a:buClr>
              <a:buSzPct val="100000"/>
              <a:buChar char="•"/>
            </a:pPr>
            <a:r>
              <a:rPr lang="en-IN"/>
              <a:t>HRP is structurally forced to diversify in a top-down manner.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Hierarchical Risk Parity</a:t>
            </a:r>
            <a:endParaRPr/>
          </a:p>
        </p:txBody>
      </p:sp>
      <p:sp>
        <p:nvSpPr>
          <p:cNvPr id="168" name="Google Shape;168;p10"/>
          <p:cNvSpPr txBox="1"/>
          <p:nvPr>
            <p:ph idx="1" type="body"/>
          </p:nvPr>
        </p:nvSpPr>
        <p:spPr>
          <a:xfrm>
            <a:off x="330505" y="1495118"/>
            <a:ext cx="1198268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Steps:</a:t>
            </a:r>
            <a:endParaRPr/>
          </a:p>
          <a:p>
            <a:pPr indent="-228600" lvl="1" marL="685800" rtl="0" algn="l">
              <a:lnSpc>
                <a:spcPct val="90000"/>
              </a:lnSpc>
              <a:spcBef>
                <a:spcPts val="500"/>
              </a:spcBef>
              <a:spcAft>
                <a:spcPts val="0"/>
              </a:spcAft>
              <a:buClr>
                <a:schemeClr val="dk1"/>
              </a:buClr>
              <a:buSzPts val="2800"/>
              <a:buChar char="•"/>
            </a:pPr>
            <a:r>
              <a:rPr lang="en-IN" sz="2800"/>
              <a:t>Hierarchical cluster</a:t>
            </a:r>
            <a:endParaRPr/>
          </a:p>
          <a:p>
            <a:pPr indent="-228600" lvl="1" marL="685800" rtl="0" algn="l">
              <a:lnSpc>
                <a:spcPct val="90000"/>
              </a:lnSpc>
              <a:spcBef>
                <a:spcPts val="500"/>
              </a:spcBef>
              <a:spcAft>
                <a:spcPts val="0"/>
              </a:spcAft>
              <a:buClr>
                <a:schemeClr val="dk1"/>
              </a:buClr>
              <a:buSzPts val="2800"/>
              <a:buChar char="•"/>
            </a:pPr>
            <a:r>
              <a:rPr lang="en-IN" sz="2800"/>
              <a:t>Optional step: clustering based asset allocation</a:t>
            </a:r>
            <a:endParaRPr/>
          </a:p>
          <a:p>
            <a:pPr indent="-228600" lvl="1" marL="685800" rtl="0" algn="l">
              <a:lnSpc>
                <a:spcPct val="90000"/>
              </a:lnSpc>
              <a:spcBef>
                <a:spcPts val="500"/>
              </a:spcBef>
              <a:spcAft>
                <a:spcPts val="0"/>
              </a:spcAft>
              <a:buClr>
                <a:schemeClr val="dk1"/>
              </a:buClr>
              <a:buSzPts val="2800"/>
              <a:buChar char="•"/>
            </a:pPr>
            <a:r>
              <a:rPr lang="en-IN" sz="2800"/>
              <a:t> Quasi-diagonalisation</a:t>
            </a:r>
            <a:endParaRPr/>
          </a:p>
          <a:p>
            <a:pPr indent="-228600" lvl="1" marL="685800" rtl="0" algn="l">
              <a:lnSpc>
                <a:spcPct val="90000"/>
              </a:lnSpc>
              <a:spcBef>
                <a:spcPts val="500"/>
              </a:spcBef>
              <a:spcAft>
                <a:spcPts val="0"/>
              </a:spcAft>
              <a:buClr>
                <a:schemeClr val="dk1"/>
              </a:buClr>
              <a:buSzPts val="2800"/>
              <a:buChar char="•"/>
            </a:pPr>
            <a:r>
              <a:rPr lang="en-IN" sz="2800"/>
              <a:t>Recursive bisection</a:t>
            </a:r>
            <a:endParaRPr/>
          </a:p>
        </p:txBody>
      </p:sp>
      <p:pic>
        <p:nvPicPr>
          <p:cNvPr id="169" name="Google Shape;169;p10"/>
          <p:cNvPicPr preferRelativeResize="0"/>
          <p:nvPr/>
        </p:nvPicPr>
        <p:blipFill rotWithShape="1">
          <a:blip r:embed="rId3">
            <a:alphaModFix/>
          </a:blip>
          <a:srcRect b="0" l="0" r="0" t="0"/>
          <a:stretch/>
        </p:blipFill>
        <p:spPr>
          <a:xfrm>
            <a:off x="990313" y="3879981"/>
            <a:ext cx="10211373" cy="281003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1"/>
          <p:cNvSpPr txBox="1"/>
          <p:nvPr>
            <p:ph type="title"/>
          </p:nvPr>
        </p:nvSpPr>
        <p:spPr>
          <a:xfrm>
            <a:off x="1159435" y="365125"/>
            <a:ext cx="1001656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Hierarchical Risk Parity</a:t>
            </a:r>
            <a:endParaRPr/>
          </a:p>
        </p:txBody>
      </p:sp>
      <p:sp>
        <p:nvSpPr>
          <p:cNvPr id="175" name="Google Shape;175;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Hierarchical Clustering (quick revision)</a:t>
            </a:r>
            <a:endParaRPr/>
          </a:p>
          <a:p>
            <a:pPr indent="-228600" lvl="1" marL="685800" rtl="0" algn="l">
              <a:lnSpc>
                <a:spcPct val="90000"/>
              </a:lnSpc>
              <a:spcBef>
                <a:spcPts val="500"/>
              </a:spcBef>
              <a:spcAft>
                <a:spcPts val="0"/>
              </a:spcAft>
              <a:buClr>
                <a:schemeClr val="dk1"/>
              </a:buClr>
              <a:buSzPts val="2400"/>
              <a:buChar char="•"/>
            </a:pPr>
            <a:r>
              <a:rPr lang="en-IN"/>
              <a:t>Does not require a fixed number of clusters</a:t>
            </a:r>
            <a:endParaRPr/>
          </a:p>
          <a:p>
            <a:pPr indent="-228600" lvl="1" marL="685800" rtl="0" algn="l">
              <a:lnSpc>
                <a:spcPct val="90000"/>
              </a:lnSpc>
              <a:spcBef>
                <a:spcPts val="500"/>
              </a:spcBef>
              <a:spcAft>
                <a:spcPts val="0"/>
              </a:spcAft>
              <a:buClr>
                <a:schemeClr val="dk1"/>
              </a:buClr>
              <a:buSzPts val="2400"/>
              <a:buChar char="•"/>
            </a:pPr>
            <a:r>
              <a:rPr lang="en-IN"/>
              <a:t>Creates nested clusters</a:t>
            </a:r>
            <a:endParaRPr/>
          </a:p>
          <a:p>
            <a:pPr indent="-228600" lvl="1" marL="685800" rtl="0" algn="l">
              <a:lnSpc>
                <a:spcPct val="90000"/>
              </a:lnSpc>
              <a:spcBef>
                <a:spcPts val="500"/>
              </a:spcBef>
              <a:spcAft>
                <a:spcPts val="0"/>
              </a:spcAft>
              <a:buClr>
                <a:schemeClr val="dk1"/>
              </a:buClr>
              <a:buSzPts val="2400"/>
              <a:buChar char="•"/>
            </a:pPr>
            <a:r>
              <a:rPr lang="en-IN"/>
              <a:t>Types:</a:t>
            </a:r>
            <a:endParaRPr/>
          </a:p>
          <a:p>
            <a:pPr indent="-228600" lvl="2" marL="1143000" rtl="0" algn="l">
              <a:lnSpc>
                <a:spcPct val="90000"/>
              </a:lnSpc>
              <a:spcBef>
                <a:spcPts val="500"/>
              </a:spcBef>
              <a:spcAft>
                <a:spcPts val="0"/>
              </a:spcAft>
              <a:buClr>
                <a:schemeClr val="dk1"/>
              </a:buClr>
              <a:buSzPts val="2000"/>
              <a:buChar char="•"/>
            </a:pPr>
            <a:r>
              <a:rPr lang="en-IN"/>
              <a:t>Agglomerative (Bottom-up)</a:t>
            </a:r>
            <a:endParaRPr/>
          </a:p>
          <a:p>
            <a:pPr indent="-228600" lvl="2" marL="1143000" rtl="0" algn="l">
              <a:lnSpc>
                <a:spcPct val="90000"/>
              </a:lnSpc>
              <a:spcBef>
                <a:spcPts val="500"/>
              </a:spcBef>
              <a:spcAft>
                <a:spcPts val="0"/>
              </a:spcAft>
              <a:buClr>
                <a:schemeClr val="dk1"/>
              </a:buClr>
              <a:buSzPts val="2000"/>
              <a:buChar char="•"/>
            </a:pPr>
            <a:r>
              <a:rPr lang="en-IN"/>
              <a:t>Divisive (Top-down)</a:t>
            </a:r>
            <a:endParaRPr/>
          </a:p>
          <a:p>
            <a:pPr indent="-228600" lvl="1" marL="685800" rtl="0" algn="l">
              <a:lnSpc>
                <a:spcPct val="90000"/>
              </a:lnSpc>
              <a:spcBef>
                <a:spcPts val="500"/>
              </a:spcBef>
              <a:spcAft>
                <a:spcPts val="0"/>
              </a:spcAft>
              <a:buClr>
                <a:schemeClr val="dk1"/>
              </a:buClr>
              <a:buSzPts val="2400"/>
              <a:buChar char="•"/>
            </a:pPr>
            <a:r>
              <a:rPr lang="en-IN"/>
              <a:t>Requires defining some measure of dissimilarity between clusters</a:t>
            </a:r>
            <a:endParaRPr/>
          </a:p>
          <a:p>
            <a:pPr indent="-228600" lvl="2" marL="1143000" rtl="0" algn="l">
              <a:lnSpc>
                <a:spcPct val="90000"/>
              </a:lnSpc>
              <a:spcBef>
                <a:spcPts val="500"/>
              </a:spcBef>
              <a:spcAft>
                <a:spcPts val="0"/>
              </a:spcAft>
              <a:buClr>
                <a:schemeClr val="dk1"/>
              </a:buClr>
              <a:buSzPts val="2000"/>
              <a:buChar char="•"/>
            </a:pPr>
            <a:r>
              <a:rPr lang="en-IN"/>
              <a:t>Single Linkage (why does HRP take single linkage?)</a:t>
            </a:r>
            <a:endParaRPr/>
          </a:p>
          <a:p>
            <a:pPr indent="-228600" lvl="2" marL="1143000" rtl="0" algn="l">
              <a:lnSpc>
                <a:spcPct val="90000"/>
              </a:lnSpc>
              <a:spcBef>
                <a:spcPts val="500"/>
              </a:spcBef>
              <a:spcAft>
                <a:spcPts val="0"/>
              </a:spcAft>
              <a:buClr>
                <a:schemeClr val="dk1"/>
              </a:buClr>
              <a:buSzPts val="2000"/>
              <a:buChar char="•"/>
            </a:pPr>
            <a:r>
              <a:rPr lang="en-IN"/>
              <a:t>Complete Linkage</a:t>
            </a:r>
            <a:endParaRPr/>
          </a:p>
          <a:p>
            <a:pPr indent="-228600" lvl="2" marL="1143000" rtl="0" algn="l">
              <a:lnSpc>
                <a:spcPct val="90000"/>
              </a:lnSpc>
              <a:spcBef>
                <a:spcPts val="500"/>
              </a:spcBef>
              <a:spcAft>
                <a:spcPts val="0"/>
              </a:spcAft>
              <a:buClr>
                <a:schemeClr val="dk1"/>
              </a:buClr>
              <a:buSzPts val="2000"/>
              <a:buChar char="•"/>
            </a:pPr>
            <a:r>
              <a:rPr lang="en-IN"/>
              <a:t>Group Average</a:t>
            </a:r>
            <a:endParaRPr/>
          </a:p>
          <a:p>
            <a:pPr indent="-228600" lvl="2" marL="1143000" rtl="0" algn="l">
              <a:lnSpc>
                <a:spcPct val="90000"/>
              </a:lnSpc>
              <a:spcBef>
                <a:spcPts val="500"/>
              </a:spcBef>
              <a:spcAft>
                <a:spcPts val="0"/>
              </a:spcAft>
              <a:buClr>
                <a:schemeClr val="dk1"/>
              </a:buClr>
              <a:buSzPts val="2000"/>
              <a:buChar char="•"/>
            </a:pPr>
            <a:r>
              <a:rPr lang="en-IN"/>
              <a:t>Ward’s method, increase in SSE from a merger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2"/>
          <p:cNvSpPr txBox="1"/>
          <p:nvPr>
            <p:ph type="title"/>
          </p:nvPr>
        </p:nvSpPr>
        <p:spPr>
          <a:xfrm>
            <a:off x="1159435" y="365125"/>
            <a:ext cx="1001656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Hierarchical Risk Parity</a:t>
            </a:r>
            <a:endParaRPr/>
          </a:p>
        </p:txBody>
      </p:sp>
      <p:cxnSp>
        <p:nvCxnSpPr>
          <p:cNvPr id="181" name="Google Shape;181;p12"/>
          <p:cNvCxnSpPr/>
          <p:nvPr/>
        </p:nvCxnSpPr>
        <p:spPr>
          <a:xfrm rot="10800000">
            <a:off x="1890136" y="2717407"/>
            <a:ext cx="1869038" cy="7528"/>
          </a:xfrm>
          <a:prstGeom prst="straightConnector1">
            <a:avLst/>
          </a:prstGeom>
          <a:noFill/>
          <a:ln cap="flat" cmpd="sng" w="9525">
            <a:solidFill>
              <a:schemeClr val="accent1"/>
            </a:solidFill>
            <a:prstDash val="solid"/>
            <a:miter lim="800000"/>
            <a:headEnd len="sm" w="sm" type="none"/>
            <a:tailEnd len="sm" w="sm" type="none"/>
          </a:ln>
        </p:spPr>
      </p:cxnSp>
      <p:cxnSp>
        <p:nvCxnSpPr>
          <p:cNvPr id="182" name="Google Shape;182;p12"/>
          <p:cNvCxnSpPr/>
          <p:nvPr/>
        </p:nvCxnSpPr>
        <p:spPr>
          <a:xfrm>
            <a:off x="952522" y="5296132"/>
            <a:ext cx="3595962" cy="0"/>
          </a:xfrm>
          <a:prstGeom prst="straightConnector1">
            <a:avLst/>
          </a:prstGeom>
          <a:noFill/>
          <a:ln cap="flat" cmpd="sng" w="9525">
            <a:solidFill>
              <a:schemeClr val="accent1"/>
            </a:solidFill>
            <a:prstDash val="solid"/>
            <a:miter lim="800000"/>
            <a:headEnd len="sm" w="sm" type="none"/>
            <a:tailEnd len="sm" w="sm" type="none"/>
          </a:ln>
        </p:spPr>
      </p:cxnSp>
      <p:cxnSp>
        <p:nvCxnSpPr>
          <p:cNvPr id="183" name="Google Shape;183;p12"/>
          <p:cNvCxnSpPr/>
          <p:nvPr/>
        </p:nvCxnSpPr>
        <p:spPr>
          <a:xfrm flipH="1" rot="-5400000">
            <a:off x="2763026" y="3721087"/>
            <a:ext cx="2571300" cy="579000"/>
          </a:xfrm>
          <a:prstGeom prst="bentConnector3">
            <a:avLst>
              <a:gd fmla="val 72965" name="adj1"/>
            </a:avLst>
          </a:prstGeom>
          <a:noFill/>
          <a:ln cap="flat" cmpd="sng" w="9525">
            <a:solidFill>
              <a:schemeClr val="accent1"/>
            </a:solidFill>
            <a:prstDash val="solid"/>
            <a:miter lim="800000"/>
            <a:headEnd len="sm" w="sm" type="none"/>
            <a:tailEnd len="sm" w="sm" type="none"/>
          </a:ln>
        </p:spPr>
      </p:cxnSp>
      <p:cxnSp>
        <p:nvCxnSpPr>
          <p:cNvPr id="184" name="Google Shape;184;p12"/>
          <p:cNvCxnSpPr/>
          <p:nvPr/>
        </p:nvCxnSpPr>
        <p:spPr>
          <a:xfrm flipH="1" rot="-5400000">
            <a:off x="3126803" y="4813586"/>
            <a:ext cx="702300" cy="276000"/>
          </a:xfrm>
          <a:prstGeom prst="bentConnector3">
            <a:avLst>
              <a:gd fmla="val 12694" name="adj1"/>
            </a:avLst>
          </a:prstGeom>
          <a:noFill/>
          <a:ln cap="flat" cmpd="sng" w="9525">
            <a:solidFill>
              <a:schemeClr val="accent1"/>
            </a:solidFill>
            <a:prstDash val="solid"/>
            <a:miter lim="800000"/>
            <a:headEnd len="sm" w="sm" type="none"/>
            <a:tailEnd len="sm" w="sm" type="none"/>
          </a:ln>
        </p:spPr>
      </p:cxnSp>
      <p:cxnSp>
        <p:nvCxnSpPr>
          <p:cNvPr id="185" name="Google Shape;185;p12"/>
          <p:cNvCxnSpPr/>
          <p:nvPr/>
        </p:nvCxnSpPr>
        <p:spPr>
          <a:xfrm flipH="1">
            <a:off x="2956942" y="4690087"/>
            <a:ext cx="549900" cy="145800"/>
          </a:xfrm>
          <a:prstGeom prst="bentConnector3">
            <a:avLst>
              <a:gd fmla="val 99895" name="adj1"/>
            </a:avLst>
          </a:prstGeom>
          <a:noFill/>
          <a:ln cap="flat" cmpd="sng" w="9525">
            <a:solidFill>
              <a:schemeClr val="accent1"/>
            </a:solidFill>
            <a:prstDash val="solid"/>
            <a:miter lim="800000"/>
            <a:headEnd len="sm" w="sm" type="none"/>
            <a:tailEnd len="sm" w="sm" type="none"/>
          </a:ln>
        </p:spPr>
      </p:cxnSp>
      <p:cxnSp>
        <p:nvCxnSpPr>
          <p:cNvPr id="186" name="Google Shape;186;p12"/>
          <p:cNvCxnSpPr/>
          <p:nvPr/>
        </p:nvCxnSpPr>
        <p:spPr>
          <a:xfrm flipH="1" rot="-5400000">
            <a:off x="2830085" y="4958544"/>
            <a:ext cx="455400" cy="201900"/>
          </a:xfrm>
          <a:prstGeom prst="bentConnector3">
            <a:avLst>
              <a:gd fmla="val 49992" name="adj1"/>
            </a:avLst>
          </a:prstGeom>
          <a:noFill/>
          <a:ln cap="flat" cmpd="sng" w="9525">
            <a:solidFill>
              <a:schemeClr val="accent1"/>
            </a:solidFill>
            <a:prstDash val="solid"/>
            <a:miter lim="800000"/>
            <a:headEnd len="sm" w="sm" type="none"/>
            <a:tailEnd len="sm" w="sm" type="none"/>
          </a:ln>
        </p:spPr>
      </p:cxnSp>
      <p:cxnSp>
        <p:nvCxnSpPr>
          <p:cNvPr id="187" name="Google Shape;187;p12"/>
          <p:cNvCxnSpPr/>
          <p:nvPr/>
        </p:nvCxnSpPr>
        <p:spPr>
          <a:xfrm rot="5400000">
            <a:off x="452235" y="3845403"/>
            <a:ext cx="2514600" cy="361200"/>
          </a:xfrm>
          <a:prstGeom prst="bentConnector3">
            <a:avLst>
              <a:gd fmla="val 7747" name="adj1"/>
            </a:avLst>
          </a:prstGeom>
          <a:noFill/>
          <a:ln cap="flat" cmpd="sng" w="9525">
            <a:solidFill>
              <a:schemeClr val="accent1"/>
            </a:solidFill>
            <a:prstDash val="solid"/>
            <a:miter lim="800000"/>
            <a:headEnd len="sm" w="sm" type="none"/>
            <a:tailEnd len="sm" w="sm" type="none"/>
          </a:ln>
        </p:spPr>
      </p:cxnSp>
      <p:cxnSp>
        <p:nvCxnSpPr>
          <p:cNvPr id="188" name="Google Shape;188;p12"/>
          <p:cNvCxnSpPr/>
          <p:nvPr/>
        </p:nvCxnSpPr>
        <p:spPr>
          <a:xfrm flipH="1" rot="-5400000">
            <a:off x="1307538" y="3293403"/>
            <a:ext cx="1615800" cy="450600"/>
          </a:xfrm>
          <a:prstGeom prst="bentConnector3">
            <a:avLst>
              <a:gd fmla="val 15518" name="adj1"/>
            </a:avLst>
          </a:prstGeom>
          <a:noFill/>
          <a:ln cap="flat" cmpd="sng" w="9525">
            <a:solidFill>
              <a:schemeClr val="accent1"/>
            </a:solidFill>
            <a:prstDash val="solid"/>
            <a:miter lim="800000"/>
            <a:headEnd len="sm" w="sm" type="none"/>
            <a:tailEnd len="sm" w="sm" type="none"/>
          </a:ln>
        </p:spPr>
      </p:cxnSp>
      <p:cxnSp>
        <p:nvCxnSpPr>
          <p:cNvPr id="189" name="Google Shape;189;p12"/>
          <p:cNvCxnSpPr/>
          <p:nvPr/>
        </p:nvCxnSpPr>
        <p:spPr>
          <a:xfrm rot="5400000">
            <a:off x="2765926" y="5102255"/>
            <a:ext cx="242400" cy="150300"/>
          </a:xfrm>
          <a:prstGeom prst="bentConnector3">
            <a:avLst>
              <a:gd fmla="val 1092" name="adj1"/>
            </a:avLst>
          </a:prstGeom>
          <a:noFill/>
          <a:ln cap="flat" cmpd="sng" w="9525">
            <a:solidFill>
              <a:schemeClr val="accent1"/>
            </a:solidFill>
            <a:prstDash val="solid"/>
            <a:miter lim="800000"/>
            <a:headEnd len="sm" w="sm" type="none"/>
            <a:tailEnd len="sm" w="sm" type="none"/>
          </a:ln>
        </p:spPr>
      </p:cxnSp>
      <p:cxnSp>
        <p:nvCxnSpPr>
          <p:cNvPr id="190" name="Google Shape;190;p12"/>
          <p:cNvCxnSpPr/>
          <p:nvPr/>
        </p:nvCxnSpPr>
        <p:spPr>
          <a:xfrm>
            <a:off x="3339953" y="4600436"/>
            <a:ext cx="438760" cy="0"/>
          </a:xfrm>
          <a:prstGeom prst="straightConnector1">
            <a:avLst/>
          </a:prstGeom>
          <a:noFill/>
          <a:ln cap="flat" cmpd="sng" w="9525">
            <a:solidFill>
              <a:schemeClr val="accent1"/>
            </a:solidFill>
            <a:prstDash val="solid"/>
            <a:miter lim="800000"/>
            <a:headEnd len="sm" w="sm" type="none"/>
            <a:tailEnd len="sm" w="sm" type="none"/>
          </a:ln>
        </p:spPr>
      </p:cxnSp>
      <p:cxnSp>
        <p:nvCxnSpPr>
          <p:cNvPr id="191" name="Google Shape;191;p12"/>
          <p:cNvCxnSpPr/>
          <p:nvPr/>
        </p:nvCxnSpPr>
        <p:spPr>
          <a:xfrm rot="5400000">
            <a:off x="1737603" y="4700528"/>
            <a:ext cx="975900" cy="228300"/>
          </a:xfrm>
          <a:prstGeom prst="bentConnector3">
            <a:avLst>
              <a:gd fmla="val 50731" name="adj1"/>
            </a:avLst>
          </a:prstGeom>
          <a:noFill/>
          <a:ln cap="flat" cmpd="sng" w="9525">
            <a:solidFill>
              <a:schemeClr val="accent1"/>
            </a:solidFill>
            <a:prstDash val="solid"/>
            <a:miter lim="800000"/>
            <a:headEnd len="sm" w="sm" type="none"/>
            <a:tailEnd len="sm" w="sm" type="none"/>
          </a:ln>
        </p:spPr>
      </p:cxnSp>
      <p:cxnSp>
        <p:nvCxnSpPr>
          <p:cNvPr id="192" name="Google Shape;192;p12"/>
          <p:cNvCxnSpPr/>
          <p:nvPr/>
        </p:nvCxnSpPr>
        <p:spPr>
          <a:xfrm flipH="1" rot="-5400000">
            <a:off x="1926178" y="4715995"/>
            <a:ext cx="995700" cy="164400"/>
          </a:xfrm>
          <a:prstGeom prst="bentConnector3">
            <a:avLst>
              <a:gd fmla="val 51918" name="adj1"/>
            </a:avLst>
          </a:prstGeom>
          <a:noFill/>
          <a:ln cap="flat" cmpd="sng" w="9525">
            <a:solidFill>
              <a:schemeClr val="accent1"/>
            </a:solidFill>
            <a:prstDash val="solid"/>
            <a:miter lim="800000"/>
            <a:headEnd len="sm" w="sm" type="none"/>
            <a:tailEnd len="sm" w="sm" type="none"/>
          </a:ln>
        </p:spPr>
      </p:cxnSp>
      <p:sp>
        <p:nvSpPr>
          <p:cNvPr id="193" name="Google Shape;193;p12"/>
          <p:cNvSpPr txBox="1"/>
          <p:nvPr/>
        </p:nvSpPr>
        <p:spPr>
          <a:xfrm>
            <a:off x="1422530" y="5272514"/>
            <a:ext cx="188595" cy="3000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350">
                <a:solidFill>
                  <a:schemeClr val="dk1"/>
                </a:solidFill>
                <a:latin typeface="Calibri"/>
                <a:ea typeface="Calibri"/>
                <a:cs typeface="Calibri"/>
                <a:sym typeface="Calibri"/>
              </a:rPr>
              <a:t>a</a:t>
            </a:r>
            <a:endParaRPr/>
          </a:p>
        </p:txBody>
      </p:sp>
      <p:sp>
        <p:nvSpPr>
          <p:cNvPr id="194" name="Google Shape;194;p12"/>
          <p:cNvSpPr txBox="1"/>
          <p:nvPr/>
        </p:nvSpPr>
        <p:spPr>
          <a:xfrm>
            <a:off x="3500197" y="5274332"/>
            <a:ext cx="188595" cy="3000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350">
                <a:solidFill>
                  <a:schemeClr val="dk1"/>
                </a:solidFill>
                <a:latin typeface="Calibri"/>
                <a:ea typeface="Calibri"/>
                <a:cs typeface="Calibri"/>
                <a:sym typeface="Calibri"/>
              </a:rPr>
              <a:t>f</a:t>
            </a:r>
            <a:endParaRPr/>
          </a:p>
        </p:txBody>
      </p:sp>
      <p:sp>
        <p:nvSpPr>
          <p:cNvPr id="195" name="Google Shape;195;p12"/>
          <p:cNvSpPr txBox="1"/>
          <p:nvPr/>
        </p:nvSpPr>
        <p:spPr>
          <a:xfrm>
            <a:off x="4243763" y="5245892"/>
            <a:ext cx="188595" cy="3000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350">
                <a:solidFill>
                  <a:schemeClr val="dk1"/>
                </a:solidFill>
                <a:latin typeface="Calibri"/>
                <a:ea typeface="Calibri"/>
                <a:cs typeface="Calibri"/>
                <a:sym typeface="Calibri"/>
              </a:rPr>
              <a:t>g</a:t>
            </a:r>
            <a:endParaRPr/>
          </a:p>
        </p:txBody>
      </p:sp>
      <p:sp>
        <p:nvSpPr>
          <p:cNvPr id="196" name="Google Shape;196;p12"/>
          <p:cNvSpPr txBox="1"/>
          <p:nvPr/>
        </p:nvSpPr>
        <p:spPr>
          <a:xfrm>
            <a:off x="2714894" y="5278229"/>
            <a:ext cx="188595" cy="3000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350">
                <a:solidFill>
                  <a:schemeClr val="dk1"/>
                </a:solidFill>
                <a:latin typeface="Calibri"/>
                <a:ea typeface="Calibri"/>
                <a:cs typeface="Calibri"/>
                <a:sym typeface="Calibri"/>
              </a:rPr>
              <a:t>d</a:t>
            </a:r>
            <a:endParaRPr/>
          </a:p>
        </p:txBody>
      </p:sp>
      <p:sp>
        <p:nvSpPr>
          <p:cNvPr id="197" name="Google Shape;197;p12"/>
          <p:cNvSpPr txBox="1"/>
          <p:nvPr/>
        </p:nvSpPr>
        <p:spPr>
          <a:xfrm>
            <a:off x="3056829" y="5277472"/>
            <a:ext cx="188595" cy="3000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350">
                <a:solidFill>
                  <a:schemeClr val="dk1"/>
                </a:solidFill>
                <a:latin typeface="Calibri"/>
                <a:ea typeface="Calibri"/>
                <a:cs typeface="Calibri"/>
                <a:sym typeface="Calibri"/>
              </a:rPr>
              <a:t>e</a:t>
            </a:r>
            <a:endParaRPr/>
          </a:p>
        </p:txBody>
      </p:sp>
      <p:sp>
        <p:nvSpPr>
          <p:cNvPr id="198" name="Google Shape;198;p12"/>
          <p:cNvSpPr txBox="1"/>
          <p:nvPr/>
        </p:nvSpPr>
        <p:spPr>
          <a:xfrm>
            <a:off x="2025486" y="5284699"/>
            <a:ext cx="188595" cy="3000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350">
                <a:solidFill>
                  <a:schemeClr val="dk1"/>
                </a:solidFill>
                <a:latin typeface="Calibri"/>
                <a:ea typeface="Calibri"/>
                <a:cs typeface="Calibri"/>
                <a:sym typeface="Calibri"/>
              </a:rPr>
              <a:t>b</a:t>
            </a:r>
            <a:endParaRPr/>
          </a:p>
        </p:txBody>
      </p:sp>
      <p:sp>
        <p:nvSpPr>
          <p:cNvPr id="199" name="Google Shape;199;p12"/>
          <p:cNvSpPr txBox="1"/>
          <p:nvPr/>
        </p:nvSpPr>
        <p:spPr>
          <a:xfrm>
            <a:off x="2400678" y="5283944"/>
            <a:ext cx="188595" cy="3000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350">
                <a:solidFill>
                  <a:schemeClr val="dk1"/>
                </a:solidFill>
                <a:latin typeface="Calibri"/>
                <a:ea typeface="Calibri"/>
                <a:cs typeface="Calibri"/>
                <a:sym typeface="Calibri"/>
              </a:rPr>
              <a:t>c</a:t>
            </a:r>
            <a:endParaRPr/>
          </a:p>
        </p:txBody>
      </p:sp>
      <p:cxnSp>
        <p:nvCxnSpPr>
          <p:cNvPr id="200" name="Google Shape;200;p12"/>
          <p:cNvCxnSpPr/>
          <p:nvPr/>
        </p:nvCxnSpPr>
        <p:spPr>
          <a:xfrm rot="10800000">
            <a:off x="952522" y="2448951"/>
            <a:ext cx="0" cy="2840709"/>
          </a:xfrm>
          <a:prstGeom prst="straightConnector1">
            <a:avLst/>
          </a:prstGeom>
          <a:noFill/>
          <a:ln cap="flat" cmpd="sng" w="9525">
            <a:solidFill>
              <a:schemeClr val="accent1"/>
            </a:solidFill>
            <a:prstDash val="solid"/>
            <a:miter lim="800000"/>
            <a:headEnd len="sm" w="sm" type="none"/>
            <a:tailEnd len="med" w="med" type="triangle"/>
          </a:ln>
        </p:spPr>
      </p:cxnSp>
      <p:sp>
        <p:nvSpPr>
          <p:cNvPr id="201" name="Google Shape;201;p12"/>
          <p:cNvSpPr txBox="1"/>
          <p:nvPr/>
        </p:nvSpPr>
        <p:spPr>
          <a:xfrm>
            <a:off x="5343436" y="2038005"/>
            <a:ext cx="6019318"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u="sng">
                <a:solidFill>
                  <a:schemeClr val="dk1"/>
                </a:solidFill>
                <a:latin typeface="Calibri"/>
                <a:ea typeface="Calibri"/>
                <a:cs typeface="Calibri"/>
                <a:sym typeface="Calibri"/>
              </a:rPr>
              <a:t>Points to note:</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Graphical representation through Dendrogram</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Monotonicity</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What is the optimal number of clusters</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Optimal leaf ordering (OLO)</a:t>
            </a:r>
            <a:endParaRPr/>
          </a:p>
          <a:p>
            <a:pPr indent="-285750" lvl="1" marL="742950" marR="0" rtl="0" algn="l">
              <a:spcBef>
                <a:spcPts val="0"/>
              </a:spcBef>
              <a:spcAft>
                <a:spcPts val="0"/>
              </a:spcAft>
              <a:buClr>
                <a:schemeClr val="dk1"/>
              </a:buClr>
              <a:buSzPts val="1800"/>
              <a:buFont typeface="Arial"/>
              <a:buChar char="•"/>
            </a:pPr>
            <a:r>
              <a:rPr b="0" i="0" lang="en-IN" sz="1800" u="none" cap="none" strike="noStrike">
                <a:solidFill>
                  <a:schemeClr val="dk1"/>
                </a:solidFill>
                <a:latin typeface="Calibri"/>
                <a:ea typeface="Calibri"/>
                <a:cs typeface="Calibri"/>
                <a:sym typeface="Calibri"/>
              </a:rPr>
              <a:t> Hard constraint (nothing comes between a merger)</a:t>
            </a:r>
            <a:endParaRPr/>
          </a:p>
          <a:p>
            <a:pPr indent="-285750" lvl="1" marL="742950" marR="0" rtl="0" algn="l">
              <a:spcBef>
                <a:spcPts val="0"/>
              </a:spcBef>
              <a:spcAft>
                <a:spcPts val="0"/>
              </a:spcAft>
              <a:buClr>
                <a:schemeClr val="dk1"/>
              </a:buClr>
              <a:buSzPts val="1800"/>
              <a:buFont typeface="Arial"/>
              <a:buChar char="•"/>
            </a:pPr>
            <a:r>
              <a:rPr b="0" i="0" lang="en-IN" sz="1800" u="none" cap="none" strike="noStrike">
                <a:solidFill>
                  <a:schemeClr val="dk1"/>
                </a:solidFill>
                <a:latin typeface="Calibri"/>
                <a:ea typeface="Calibri"/>
                <a:cs typeface="Calibri"/>
                <a:sym typeface="Calibri"/>
              </a:rPr>
              <a:t>Soft constraint (order elements inside a cluster to be close to neigbhors). This soft constraint will play an important role in the quasi diagonal matrix</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202" name="Google Shape;202;p12"/>
          <p:cNvSpPr txBox="1"/>
          <p:nvPr/>
        </p:nvSpPr>
        <p:spPr>
          <a:xfrm>
            <a:off x="1079702" y="5715408"/>
            <a:ext cx="40569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OLO ordering (a,b,c just for convenience)</a:t>
            </a:r>
            <a:endParaRPr/>
          </a:p>
        </p:txBody>
      </p:sp>
      <p:sp>
        <p:nvSpPr>
          <p:cNvPr id="203" name="Google Shape;203;p12"/>
          <p:cNvSpPr txBox="1"/>
          <p:nvPr/>
        </p:nvSpPr>
        <p:spPr>
          <a:xfrm rot="-5400000">
            <a:off x="-1491916" y="3440202"/>
            <a:ext cx="405699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Dissimilarity metric (single linkage)</a:t>
            </a:r>
            <a:endParaRPr/>
          </a:p>
        </p:txBody>
      </p:sp>
      <p:sp>
        <p:nvSpPr>
          <p:cNvPr id="204" name="Google Shape;204;p12"/>
          <p:cNvSpPr txBox="1"/>
          <p:nvPr/>
        </p:nvSpPr>
        <p:spPr>
          <a:xfrm>
            <a:off x="5596213" y="4623328"/>
            <a:ext cx="6007453" cy="20313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u="sng">
                <a:solidFill>
                  <a:schemeClr val="dk1"/>
                </a:solidFill>
                <a:latin typeface="Calibri"/>
                <a:ea typeface="Calibri"/>
                <a:cs typeface="Calibri"/>
                <a:sym typeface="Calibri"/>
              </a:rPr>
              <a:t>Why do Hierarchical clustering for HRP?:</a:t>
            </a:r>
            <a:endParaRPr/>
          </a:p>
          <a:p>
            <a:pPr indent="-285750" lvl="0" marL="285750" marR="0" rtl="0" algn="l">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Hierarchical clustering-based asset allocation: replace clusters with single prototypical stocks</a:t>
            </a:r>
            <a:endParaRPr/>
          </a:p>
          <a:p>
            <a:pPr indent="-285750" lvl="1" marL="742950" marR="0" rtl="0" algn="l">
              <a:spcBef>
                <a:spcPts val="0"/>
              </a:spcBef>
              <a:spcAft>
                <a:spcPts val="0"/>
              </a:spcAft>
              <a:buClr>
                <a:schemeClr val="dk1"/>
              </a:buClr>
              <a:buSzPts val="1800"/>
              <a:buFont typeface="Arial"/>
              <a:buChar char="•"/>
            </a:pPr>
            <a:r>
              <a:rPr b="0" i="0" lang="en-IN" sz="1800" u="none" cap="none" strike="noStrike">
                <a:solidFill>
                  <a:schemeClr val="dk1"/>
                </a:solidFill>
                <a:latin typeface="Calibri"/>
                <a:ea typeface="Calibri"/>
                <a:cs typeface="Calibri"/>
                <a:sym typeface="Calibri"/>
              </a:rPr>
              <a:t>The stock with the highest correlation to the cluster or most  liquid</a:t>
            </a:r>
            <a:endParaRPr/>
          </a:p>
          <a:p>
            <a:pPr indent="-285750" lvl="0" marL="285750" marR="0" rtl="0" algn="l">
              <a:spcBef>
                <a:spcPts val="0"/>
              </a:spcBef>
              <a:spcAft>
                <a:spcPts val="0"/>
              </a:spcAft>
              <a:buClr>
                <a:schemeClr val="dk1"/>
              </a:buClr>
              <a:buSzPts val="1800"/>
              <a:buFont typeface="Arial"/>
              <a:buChar char="•"/>
            </a:pPr>
            <a:r>
              <a:rPr b="1" lang="en-IN" sz="1800">
                <a:solidFill>
                  <a:schemeClr val="dk1"/>
                </a:solidFill>
                <a:latin typeface="Calibri"/>
                <a:ea typeface="Calibri"/>
                <a:cs typeface="Calibri"/>
                <a:sym typeface="Calibri"/>
              </a:rPr>
              <a:t>We don’t care about the clustering we care about the ordering!</a:t>
            </a:r>
            <a:endParaRPr/>
          </a:p>
        </p:txBody>
      </p:sp>
      <p:sp>
        <p:nvSpPr>
          <p:cNvPr id="205" name="Google Shape;205;p12"/>
          <p:cNvSpPr txBox="1"/>
          <p:nvPr/>
        </p:nvSpPr>
        <p:spPr>
          <a:xfrm>
            <a:off x="1113180" y="1827785"/>
            <a:ext cx="37636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u="sng">
                <a:solidFill>
                  <a:schemeClr val="dk1"/>
                </a:solidFill>
                <a:latin typeface="Calibri"/>
                <a:ea typeface="Calibri"/>
                <a:cs typeface="Calibri"/>
                <a:sym typeface="Calibri"/>
              </a:rPr>
              <a:t>Agglomerative Hierarchical Clustering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3"/>
          <p:cNvSpPr txBox="1"/>
          <p:nvPr>
            <p:ph type="title"/>
          </p:nvPr>
        </p:nvSpPr>
        <p:spPr>
          <a:xfrm>
            <a:off x="1159435" y="365125"/>
            <a:ext cx="1001656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Hierarchical Risk Parity</a:t>
            </a:r>
            <a:endParaRPr/>
          </a:p>
        </p:txBody>
      </p:sp>
      <p:sp>
        <p:nvSpPr>
          <p:cNvPr id="211" name="Google Shape;211;p13"/>
          <p:cNvSpPr txBox="1"/>
          <p:nvPr>
            <p:ph idx="1" type="body"/>
          </p:nvPr>
        </p:nvSpPr>
        <p:spPr>
          <a:xfrm>
            <a:off x="838200" y="1825625"/>
            <a:ext cx="10515600" cy="4817546"/>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IN"/>
              <a:t>Quasi diagonalization – the sorted matrix is a visual verification of the clustering algorithms effect on ordered covariance. </a:t>
            </a:r>
            <a:endParaRPr/>
          </a:p>
          <a:p>
            <a:pPr indent="-228600" lvl="1" marL="685800" rtl="0" algn="l">
              <a:lnSpc>
                <a:spcPct val="90000"/>
              </a:lnSpc>
              <a:spcBef>
                <a:spcPts val="500"/>
              </a:spcBef>
              <a:spcAft>
                <a:spcPts val="0"/>
              </a:spcAft>
              <a:buClr>
                <a:schemeClr val="dk1"/>
              </a:buClr>
              <a:buSzPts val="2400"/>
              <a:buChar char="•"/>
            </a:pPr>
            <a:r>
              <a:rPr lang="en-IN"/>
              <a:t>We take the output from the dendrogram (a list of indices) and shuffle the columns of the covariance matrix to match the order.</a:t>
            </a:r>
            <a:endParaRPr/>
          </a:p>
          <a:p>
            <a:pPr indent="-228600" lvl="0" marL="228600" rtl="0" algn="l">
              <a:lnSpc>
                <a:spcPct val="90000"/>
              </a:lnSpc>
              <a:spcBef>
                <a:spcPts val="1000"/>
              </a:spcBef>
              <a:spcAft>
                <a:spcPts val="0"/>
              </a:spcAft>
              <a:buClr>
                <a:schemeClr val="dk1"/>
              </a:buClr>
              <a:buSzPts val="2800"/>
              <a:buChar char="•"/>
            </a:pPr>
            <a:r>
              <a:rPr lang="en-IN"/>
              <a:t>Recursive Bisection</a:t>
            </a:r>
            <a:endParaRPr/>
          </a:p>
          <a:p>
            <a:pPr indent="-228600" lvl="1" marL="685800" rtl="0" algn="l">
              <a:lnSpc>
                <a:spcPct val="90000"/>
              </a:lnSpc>
              <a:spcBef>
                <a:spcPts val="500"/>
              </a:spcBef>
              <a:spcAft>
                <a:spcPts val="0"/>
              </a:spcAft>
              <a:buClr>
                <a:schemeClr val="dk1"/>
              </a:buClr>
              <a:buSzPts val="2400"/>
              <a:buChar char="•"/>
            </a:pPr>
            <a:r>
              <a:rPr lang="en-IN"/>
              <a:t>Split the universe into two (left side vs right side)</a:t>
            </a:r>
            <a:endParaRPr/>
          </a:p>
          <a:p>
            <a:pPr indent="-228600" lvl="1" marL="685800" rtl="0" algn="l">
              <a:lnSpc>
                <a:spcPct val="90000"/>
              </a:lnSpc>
              <a:spcBef>
                <a:spcPts val="500"/>
              </a:spcBef>
              <a:spcAft>
                <a:spcPts val="0"/>
              </a:spcAft>
              <a:buClr>
                <a:schemeClr val="dk1"/>
              </a:buClr>
              <a:buSzPts val="2400"/>
              <a:buChar char="•"/>
            </a:pPr>
            <a:r>
              <a:rPr lang="en-IN"/>
              <a:t>Calculate cluster variance</a:t>
            </a:r>
            <a:endParaRPr/>
          </a:p>
          <a:p>
            <a:pPr indent="-228600" lvl="2" marL="1143000" rtl="0" algn="l">
              <a:lnSpc>
                <a:spcPct val="90000"/>
              </a:lnSpc>
              <a:spcBef>
                <a:spcPts val="500"/>
              </a:spcBef>
              <a:spcAft>
                <a:spcPts val="0"/>
              </a:spcAft>
              <a:buClr>
                <a:schemeClr val="dk1"/>
              </a:buClr>
              <a:buSzPts val="2000"/>
              <a:buChar char="•"/>
            </a:pPr>
            <a:r>
              <a:rPr lang="en-IN"/>
              <a:t>Assign weights as per inverse variance parity</a:t>
            </a:r>
            <a:endParaRPr/>
          </a:p>
          <a:p>
            <a:pPr indent="-228600" lvl="2" marL="1143000" rtl="0" algn="l">
              <a:lnSpc>
                <a:spcPct val="90000"/>
              </a:lnSpc>
              <a:spcBef>
                <a:spcPts val="500"/>
              </a:spcBef>
              <a:spcAft>
                <a:spcPts val="0"/>
              </a:spcAft>
              <a:buClr>
                <a:schemeClr val="dk1"/>
              </a:buClr>
              <a:buSzPts val="2000"/>
              <a:buChar char="•"/>
            </a:pPr>
            <a:r>
              <a:rPr lang="en-IN"/>
              <a:t>Combined cluster variance  </a:t>
            </a:r>
            <a:endParaRPr/>
          </a:p>
          <a:p>
            <a:pPr indent="-228600" lvl="1" marL="685800" rtl="0" algn="l">
              <a:lnSpc>
                <a:spcPct val="90000"/>
              </a:lnSpc>
              <a:spcBef>
                <a:spcPts val="500"/>
              </a:spcBef>
              <a:spcAft>
                <a:spcPts val="0"/>
              </a:spcAft>
              <a:buClr>
                <a:schemeClr val="dk1"/>
              </a:buClr>
              <a:buSzPts val="2400"/>
              <a:buChar char="•"/>
            </a:pPr>
            <a:r>
              <a:rPr lang="en-IN"/>
              <a:t>Calculate split factor </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IN"/>
              <a:t>Repeat the steps for next split till we have each stock weight. Why do we need quasi diagonlization for this to work?</a:t>
            </a:r>
            <a:endParaRPr/>
          </a:p>
        </p:txBody>
      </p:sp>
      <p:pic>
        <p:nvPicPr>
          <p:cNvPr id="212" name="Google Shape;212;p13"/>
          <p:cNvPicPr preferRelativeResize="0"/>
          <p:nvPr/>
        </p:nvPicPr>
        <p:blipFill rotWithShape="1">
          <a:blip r:embed="rId3">
            <a:alphaModFix/>
          </a:blip>
          <a:srcRect b="0" l="0" r="0" t="0"/>
          <a:stretch/>
        </p:blipFill>
        <p:spPr>
          <a:xfrm>
            <a:off x="7758650" y="3154838"/>
            <a:ext cx="4113868" cy="2220833"/>
          </a:xfrm>
          <a:prstGeom prst="rect">
            <a:avLst/>
          </a:prstGeom>
          <a:noFill/>
          <a:ln>
            <a:noFill/>
          </a:ln>
        </p:spPr>
      </p:pic>
      <p:pic>
        <p:nvPicPr>
          <p:cNvPr id="213" name="Google Shape;213;p13"/>
          <p:cNvPicPr preferRelativeResize="0"/>
          <p:nvPr/>
        </p:nvPicPr>
        <p:blipFill rotWithShape="1">
          <a:blip r:embed="rId4">
            <a:alphaModFix/>
          </a:blip>
          <a:srcRect b="0" l="0" r="0" t="0"/>
          <a:stretch/>
        </p:blipFill>
        <p:spPr>
          <a:xfrm>
            <a:off x="5181472" y="4635813"/>
            <a:ext cx="2029108" cy="323895"/>
          </a:xfrm>
          <a:prstGeom prst="rect">
            <a:avLst/>
          </a:prstGeom>
          <a:noFill/>
          <a:ln>
            <a:noFill/>
          </a:ln>
        </p:spPr>
      </p:pic>
      <p:pic>
        <p:nvPicPr>
          <p:cNvPr id="214" name="Google Shape;214;p13"/>
          <p:cNvPicPr preferRelativeResize="0"/>
          <p:nvPr/>
        </p:nvPicPr>
        <p:blipFill rotWithShape="1">
          <a:blip r:embed="rId5">
            <a:alphaModFix/>
          </a:blip>
          <a:srcRect b="0" l="0" r="0" t="0"/>
          <a:stretch/>
        </p:blipFill>
        <p:spPr>
          <a:xfrm>
            <a:off x="4828058" y="5094645"/>
            <a:ext cx="2229161" cy="56205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4"/>
          <p:cNvSpPr txBox="1"/>
          <p:nvPr>
            <p:ph type="title"/>
          </p:nvPr>
        </p:nvSpPr>
        <p:spPr>
          <a:xfrm>
            <a:off x="1159435" y="365125"/>
            <a:ext cx="1001656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What are some ex-ante approaches to optimal portfolios using ML</a:t>
            </a:r>
            <a:endParaRPr/>
          </a:p>
        </p:txBody>
      </p:sp>
      <p:sp>
        <p:nvSpPr>
          <p:cNvPr id="220" name="Google Shape;220;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4" name="Shape 224"/>
        <p:cNvGrpSpPr/>
        <p:nvPr/>
      </p:nvGrpSpPr>
      <p:grpSpPr>
        <a:xfrm>
          <a:off x="0" y="0"/>
          <a:ext cx="0" cy="0"/>
          <a:chOff x="0" y="0"/>
          <a:chExt cx="0" cy="0"/>
        </a:xfrm>
      </p:grpSpPr>
      <p:sp>
        <p:nvSpPr>
          <p:cNvPr id="225" name="Google Shape;225;p15"/>
          <p:cNvSpPr txBox="1"/>
          <p:nvPr>
            <p:ph type="title"/>
          </p:nvPr>
        </p:nvSpPr>
        <p:spPr>
          <a:xfrm>
            <a:off x="1159435" y="365125"/>
            <a:ext cx="1001656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The problem of the replicating portfolio: Some ML approaches</a:t>
            </a:r>
            <a:endParaRPr/>
          </a:p>
        </p:txBody>
      </p:sp>
      <p:sp>
        <p:nvSpPr>
          <p:cNvPr id="226" name="Google Shape;226;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2023-08-07T07:27:39Z</dcterms:created>
  <dc:creator>Microsoft account</dc:creator>
</cp:coreProperties>
</file>